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201400" cy="0"/>
          </a:xfrm>
          <a:prstGeom prst="line">
            <a:avLst/>
          </a:prstGeom>
          <a:noFill/>
          <a:ln w="8890">
            <a:solidFill>
              <a:srgbClr val="C9D7D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6539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BB-KSS + BB-CVS | Video hariç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photo_realistic_industrial_interior_scene.png">    </p:cNvPr>
          <p:cNvPicPr>
            <a:picLocks noChangeAspect="1"/>
          </p:cNvPicPr>
          <p:nvPr/>
        </p:nvPicPr>
        <p:blipFill>
          <a:blip r:embed="rId1"/>
          <a:srcRect l="25875" r="25875" t="0" b="0"/>
          <a:stretch/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63640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1792" y="5029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BB-KSS MASTER KARAR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1792" y="1097280"/>
            <a:ext cx="51663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20.000 kg/gün Boyahane İçin RO Kapasite Seçimi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2606040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Yalnızca ana boyama banyosu referans alınmıştır. Video üretimi dahil değildir.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8368" y="384048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C7D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m³/saat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58368" y="43525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önerilen net permeat kapasitesi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429000" y="384048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100–120 m³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429000" y="435254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önerilen permeat tankı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58368" y="598932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v1.0 | BB-507 ZIP yayın paketi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Kapsam: yalnızca ana boyama banyosu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Yıkama, sabunlama, durulama, temizlik, apre ve atık su geri kazanımı ayrı hesaplanmalıdır.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Dahil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084832"/>
            <a:ext cx="4023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ilk boyama banyosu / reçete banyosu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903720" y="157276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A33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Hariç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903720" y="208483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yıkama, sabunlama, durulama, makine temizliği, apre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337560"/>
            <a:ext cx="10561320" cy="960120"/>
          </a:xfrm>
          <a:prstGeom prst="roundRect">
            <a:avLst>
              <a:gd name="adj" fmla="val 5714"/>
            </a:avLst>
          </a:prstGeom>
          <a:solidFill>
            <a:srgbClr val="E9F3F7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456432"/>
            <a:ext cx="102321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 ayrım yapılmazsa RO yatırımı düşük seçilebilir. Ana banyo için yeterli olan kapasite, tüm işletme suyu için yeterli değildir.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10561320" cy="960120"/>
          </a:xfrm>
          <a:prstGeom prst="roundRect">
            <a:avLst>
              <a:gd name="adj" fmla="val 5714"/>
            </a:avLst>
          </a:prstGeom>
          <a:solidFill>
            <a:srgbClr val="EEF8F1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4736592"/>
            <a:ext cx="1023213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Uygulama: 20.000 kg/gün × 1:6 = 120 m³/gün sadece ana banyo suyu demektir. Durulama ve sabunlama eklenirse değer bunun üstüne çıkar.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Flotte hesabı: günlük kumaş × L/kg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20.000 kg/gün için teorik ana banyo ihtiyacı.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10378440" cy="0"/>
          </a:xfrm>
          <a:prstGeom prst="line">
            <a:avLst/>
          </a:prstGeom>
          <a:noFill/>
          <a:ln w="14605">
            <a:solidFill>
              <a:srgbClr val="123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9384"/>
            <a:ext cx="10378440" cy="0"/>
          </a:xfrm>
          <a:prstGeom prst="line">
            <a:avLst/>
          </a:prstGeom>
          <a:noFill/>
          <a:ln w="14605">
            <a:solidFill>
              <a:srgbClr val="12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32888"/>
            <a:ext cx="1037844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36392"/>
            <a:ext cx="1037844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739896"/>
            <a:ext cx="1037844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343400"/>
            <a:ext cx="1037844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325880"/>
            <a:ext cx="0" cy="30175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325880"/>
            <a:ext cx="0" cy="30175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1325880"/>
            <a:ext cx="0" cy="30175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92840" y="1325880"/>
            <a:ext cx="0" cy="30175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1399032"/>
            <a:ext cx="21762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Flotte oranı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3255264" y="1399032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Hesap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7461504" y="1399032"/>
            <a:ext cx="3776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Teorik su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969264" y="2002536"/>
            <a:ext cx="21762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1:5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3255264" y="2002536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20.000 × 5 / 1000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7461504" y="2002536"/>
            <a:ext cx="3776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 m³/gün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969264" y="2606040"/>
            <a:ext cx="21762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1:6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3255264" y="2606040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20.000 × 6 / 1000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7461504" y="2606040"/>
            <a:ext cx="3776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120 m³/gün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969264" y="3209544"/>
            <a:ext cx="21762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1:7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3255264" y="3209544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20.000 × 7 / 1000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7461504" y="3209544"/>
            <a:ext cx="3776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140 m³/gün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969264" y="3813048"/>
            <a:ext cx="21762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1:8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3255264" y="3813048"/>
            <a:ext cx="40965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20.000 × 8 / 1000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7461504" y="3813048"/>
            <a:ext cx="3776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160 m³/gün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914400" y="4892040"/>
            <a:ext cx="10378440" cy="777240"/>
          </a:xfrm>
          <a:prstGeom prst="roundRect">
            <a:avLst>
              <a:gd name="adj" fmla="val 7059"/>
            </a:avLst>
          </a:prstGeom>
          <a:solidFill>
            <a:srgbClr val="E9F3F7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5010912"/>
            <a:ext cx="100492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Kural: hesap her zaman kg/gün ve L/kg üzerinden yapılmalı; m³/gün değerine çevrilmelidir.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%15 emniyet payı eklenince tablo değişir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Kapasite seçimi minimum teoriye göre değil, işletme değişkenliğine göre yapılmalıdır.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10698480" cy="0"/>
          </a:xfrm>
          <a:prstGeom prst="line">
            <a:avLst/>
          </a:prstGeom>
          <a:noFill/>
          <a:ln w="14605">
            <a:solidFill>
              <a:srgbClr val="123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83664"/>
            <a:ext cx="10698480" cy="0"/>
          </a:xfrm>
          <a:prstGeom prst="line">
            <a:avLst/>
          </a:prstGeom>
          <a:noFill/>
          <a:ln w="14605">
            <a:solidFill>
              <a:srgbClr val="12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32888"/>
            <a:ext cx="1069848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182112"/>
            <a:ext cx="1069848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3831336"/>
            <a:ext cx="1069848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480560"/>
            <a:ext cx="1069848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234440"/>
            <a:ext cx="0" cy="32461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234440"/>
            <a:ext cx="0" cy="32461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1234440"/>
            <a:ext cx="0" cy="32461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1234440"/>
            <a:ext cx="0" cy="32461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75720" y="1234440"/>
            <a:ext cx="0" cy="32461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" y="1307592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Flotte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2569464" y="1307592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Teorik ihtiyaç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5312664" y="1307592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%15 paylı ihtiyaç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8421624" y="1307592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m³/h - 20 saat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832104" y="1956816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1:5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2569464" y="1956816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 m³/gün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312664" y="1956816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115 m³/gün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8421624" y="1956816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Yeterli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832104" y="260604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1:6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2569464" y="2606040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120 m³/gün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5312664" y="260604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138 m³/gün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8421624" y="2606040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Rezerv sınırlı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832104" y="3255264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1:7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2569464" y="3255264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140 m³/gün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5312664" y="3255264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161 m³/gün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8421624" y="3255264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Sınırda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832104" y="3904488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1:8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2569464" y="3904488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160 m³/gün</a:t>
            </a:r>
            <a:endParaRPr lang="en-US" sz="1140" dirty="0"/>
          </a:p>
        </p:txBody>
      </p:sp>
      <p:sp>
        <p:nvSpPr>
          <p:cNvPr id="33" name="Text 31"/>
          <p:cNvSpPr/>
          <p:nvPr/>
        </p:nvSpPr>
        <p:spPr>
          <a:xfrm>
            <a:off x="5312664" y="390448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184 m³/gün</a:t>
            </a:r>
            <a:endParaRPr lang="en-US" sz="1140" dirty="0"/>
          </a:p>
        </p:txBody>
      </p:sp>
      <p:sp>
        <p:nvSpPr>
          <p:cNvPr id="34" name="Text 32"/>
          <p:cNvSpPr/>
          <p:nvPr/>
        </p:nvSpPr>
        <p:spPr>
          <a:xfrm>
            <a:off x="8421624" y="3904488"/>
            <a:ext cx="29992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Yetersiz</a:t>
            </a:r>
            <a:endParaRPr lang="en-US" sz="1140" dirty="0"/>
          </a:p>
        </p:txBody>
      </p:sp>
      <p:sp>
        <p:nvSpPr>
          <p:cNvPr id="35" name="Shape 33"/>
          <p:cNvSpPr/>
          <p:nvPr/>
        </p:nvSpPr>
        <p:spPr>
          <a:xfrm>
            <a:off x="822960" y="4983480"/>
            <a:ext cx="10607040" cy="804672"/>
          </a:xfrm>
          <a:prstGeom prst="roundRect">
            <a:avLst>
              <a:gd name="adj" fmla="val 6818"/>
            </a:avLst>
          </a:prstGeom>
          <a:solidFill>
            <a:srgbClr val="FFF4E8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5102352"/>
            <a:ext cx="102778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Kritik düzeltme: 1:7 + %15 = 161 m³/gün; 8 m³/saat × 20 saat = 160 m³/gün. Bu nedenle 8 m³/saat güvenli seçim değildir.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m³/saat: minimum uygulanabilir kapasite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Sabit 1:6 koşulunda çalışır; karma makine parkında rezerv düşüktür.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C7D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160 m³/gün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1929384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saatlik net permeat üretimi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≈10,7 m³/h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434840" y="1929384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feed debisi (%75 recovery)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1417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A33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≈2,7 m³/h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955280" y="1929384"/>
            <a:ext cx="2926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reject debisi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4800600" cy="960120"/>
          </a:xfrm>
          <a:prstGeom prst="roundRect">
            <a:avLst>
              <a:gd name="adj" fmla="val 5714"/>
            </a:avLst>
          </a:prstGeom>
          <a:solidFill>
            <a:srgbClr val="E9F3F7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319272"/>
            <a:ext cx="44714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Uygun olduğu alan: düzenli 1:5-1:6 flotte, düşük eş zamanlı dolum ve dar üretim rezervi.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400800" y="3200400"/>
            <a:ext cx="4800600" cy="960120"/>
          </a:xfrm>
          <a:prstGeom prst="roundRect">
            <a:avLst>
              <a:gd name="adj" fmla="val 5714"/>
            </a:avLst>
          </a:prstGeom>
          <a:solidFill>
            <a:srgbClr val="FFF4E8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3319272"/>
            <a:ext cx="44714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Risk: bakım, CIP, sıcaklık etkisi veya membran yaşlanması sırasında günlük üretim ihtiyacını yakalayamaz.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914400" y="4892040"/>
            <a:ext cx="10287000" cy="768096"/>
          </a:xfrm>
          <a:prstGeom prst="roundRect">
            <a:avLst>
              <a:gd name="adj" fmla="val 7143"/>
            </a:avLst>
          </a:prstGeom>
          <a:solidFill>
            <a:srgbClr val="E9F3F7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5010912"/>
            <a:ext cx="9957816" cy="539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Karar dili: 8 m³/saat “yeterli sistem” değil, sadece “minimum uygulanabilir sistem” olarak yazılmalıdır.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m³/saat: önerilen güvenli seçim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1:5-1:8 ana banyo aralığında kapasite rezervi sağlar.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C7DA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 m³/gün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1929384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saatlik net permeat üretimi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13,3 m³/h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434840" y="1929384"/>
            <a:ext cx="31089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ham su feed debisi (%75 recovery)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55280" y="14173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A33A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3,3 m³/h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955280" y="1929384"/>
            <a:ext cx="29260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reject debisi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10287000" cy="841248"/>
          </a:xfrm>
          <a:prstGeom prst="roundRect">
            <a:avLst>
              <a:gd name="adj" fmla="val 6522"/>
            </a:avLst>
          </a:prstGeom>
          <a:solidFill>
            <a:srgbClr val="EEF8F1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273552"/>
            <a:ext cx="9957816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Tank: 100-120 m³ permeat deposu, eş zamanlı makine dolumunu sönümlemek için sistemle birlikte düşünülmelidir.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14400" y="4434840"/>
            <a:ext cx="10287000" cy="868680"/>
          </a:xfrm>
          <a:prstGeom prst="roundRect">
            <a:avLst>
              <a:gd name="adj" fmla="val 6316"/>
            </a:avLst>
          </a:prstGeom>
          <a:solidFill>
            <a:srgbClr val="E9F3F7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4553712"/>
            <a:ext cx="995781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Uygulama: 1:6 + %15 senaryosu 138 m³/gün ister. 10 m³/saat sistem 18 saatte 180 m³ üretir; yaklaşık 42 m³/gün rezerv oluşur.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m³/saat ve 10 m³/saat karşılaştırması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Satın alma kararı cihaz debisi kadar tank, ön arıtma ve ölçüm sistemiyle birlikte verilmelidir.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927080" cy="0"/>
          </a:xfrm>
          <a:prstGeom prst="line">
            <a:avLst/>
          </a:prstGeom>
          <a:noFill/>
          <a:ln w="14605">
            <a:solidFill>
              <a:srgbClr val="1231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63852"/>
            <a:ext cx="10927080" cy="0"/>
          </a:xfrm>
          <a:prstGeom prst="line">
            <a:avLst/>
          </a:prstGeom>
          <a:noFill/>
          <a:ln w="14605">
            <a:solidFill>
              <a:srgbClr val="1231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557272"/>
            <a:ext cx="1092708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3250692"/>
            <a:ext cx="1092708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3944112"/>
            <a:ext cx="1092708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4637532"/>
            <a:ext cx="1092708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5330952"/>
            <a:ext cx="10927080" cy="0"/>
          </a:xfrm>
          <a:prstGeom prst="line">
            <a:avLst/>
          </a:prstGeom>
          <a:noFill/>
          <a:ln w="6985">
            <a:solidFill>
              <a:srgbClr val="D7E2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170432"/>
            <a:ext cx="0" cy="41605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98848" y="1170432"/>
            <a:ext cx="0" cy="41605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73568" y="1170432"/>
            <a:ext cx="0" cy="41605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585448" y="1170432"/>
            <a:ext cx="0" cy="4160520"/>
          </a:xfrm>
          <a:prstGeom prst="line">
            <a:avLst/>
          </a:prstGeom>
          <a:noFill/>
          <a:ln w="5715">
            <a:solidFill>
              <a:srgbClr val="D7E2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1243584"/>
            <a:ext cx="37307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Kriter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4553712" y="1243584"/>
            <a:ext cx="336499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m³/saat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8028432" y="1243584"/>
            <a:ext cx="35021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m³/saat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713232" y="1937004"/>
            <a:ext cx="37307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saatlik üretim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4553712" y="1937004"/>
            <a:ext cx="336499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160 m³/gün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8028432" y="1937004"/>
            <a:ext cx="35021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200 m³/gün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713232" y="2630424"/>
            <a:ext cx="37307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1:7 + %15 senaryosu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4553712" y="2630424"/>
            <a:ext cx="336499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Sınırda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8028432" y="2630424"/>
            <a:ext cx="35021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Güvenli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713232" y="3323844"/>
            <a:ext cx="37307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1:8 + %15 senaryosu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4553712" y="3323844"/>
            <a:ext cx="336499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Yetersiz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8028432" y="3323844"/>
            <a:ext cx="35021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Güvenli</a:t>
            </a:r>
            <a:endParaRPr lang="en-US" sz="1140" dirty="0"/>
          </a:p>
        </p:txBody>
      </p:sp>
      <p:sp>
        <p:nvSpPr>
          <p:cNvPr id="27" name="Text 25"/>
          <p:cNvSpPr/>
          <p:nvPr/>
        </p:nvSpPr>
        <p:spPr>
          <a:xfrm>
            <a:off x="713232" y="4017264"/>
            <a:ext cx="37307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Permeat tankı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4553712" y="4017264"/>
            <a:ext cx="336499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80-100 m³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8028432" y="4017264"/>
            <a:ext cx="35021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100-120 m³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713232" y="4710684"/>
            <a:ext cx="37307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Teknik karar</a:t>
            </a:r>
            <a:endParaRPr lang="en-US" sz="1140" dirty="0"/>
          </a:p>
        </p:txBody>
      </p:sp>
      <p:sp>
        <p:nvSpPr>
          <p:cNvPr id="31" name="Text 29"/>
          <p:cNvSpPr/>
          <p:nvPr/>
        </p:nvSpPr>
        <p:spPr>
          <a:xfrm>
            <a:off x="4553712" y="4710684"/>
            <a:ext cx="336499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Minimum uygulanabilir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8028432" y="4710684"/>
            <a:ext cx="3502152" cy="5745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Önerilen seçim</a:t>
            </a:r>
            <a:endParaRPr lang="en-US" sz="1140" dirty="0"/>
          </a:p>
        </p:txBody>
      </p:sp>
      <p:sp>
        <p:nvSpPr>
          <p:cNvPr id="33" name="Shape 31"/>
          <p:cNvSpPr/>
          <p:nvPr/>
        </p:nvSpPr>
        <p:spPr>
          <a:xfrm>
            <a:off x="1051560" y="5632704"/>
            <a:ext cx="9921240" cy="530352"/>
          </a:xfrm>
          <a:prstGeom prst="roundRect">
            <a:avLst>
              <a:gd name="adj" fmla="val 10345"/>
            </a:avLst>
          </a:prstGeom>
          <a:solidFill>
            <a:srgbClr val="EEF8F1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16152" y="5751576"/>
            <a:ext cx="9592056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Sonuç: yatırım güvenliği için 10 m³/saat net permeat seçimi korunmalıdır.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Önerilen sistem akışı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Nihai membran dizilimi ham su analizi ve SDI sonucuna göre kesinleştirilir.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645920" y="3182112"/>
            <a:ext cx="594360" cy="0"/>
          </a:xfrm>
          <a:prstGeom prst="line">
            <a:avLst/>
          </a:prstGeom>
          <a:noFill/>
          <a:ln w="25400">
            <a:solidFill>
              <a:srgbClr val="C9D7DF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291840" y="3182112"/>
            <a:ext cx="594360" cy="0"/>
          </a:xfrm>
          <a:prstGeom prst="line">
            <a:avLst/>
          </a:prstGeom>
          <a:noFill/>
          <a:ln w="25400">
            <a:solidFill>
              <a:srgbClr val="C9D7D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937760" y="3182112"/>
            <a:ext cx="594360" cy="0"/>
          </a:xfrm>
          <a:prstGeom prst="line">
            <a:avLst/>
          </a:prstGeom>
          <a:noFill/>
          <a:ln w="25400">
            <a:solidFill>
              <a:srgbClr val="C9D7D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83680" y="3182112"/>
            <a:ext cx="594360" cy="0"/>
          </a:xfrm>
          <a:prstGeom prst="line">
            <a:avLst/>
          </a:prstGeom>
          <a:noFill/>
          <a:ln w="25400">
            <a:solidFill>
              <a:srgbClr val="C9D7D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229600" y="3182112"/>
            <a:ext cx="594360" cy="0"/>
          </a:xfrm>
          <a:prstGeom prst="line">
            <a:avLst/>
          </a:prstGeom>
          <a:noFill/>
          <a:ln w="25400">
            <a:solidFill>
              <a:srgbClr val="C9D7D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875520" y="3182112"/>
            <a:ext cx="594360" cy="0"/>
          </a:xfrm>
          <a:prstGeom prst="line">
            <a:avLst/>
          </a:prstGeom>
          <a:noFill/>
          <a:ln w="25400">
            <a:solidFill>
              <a:srgbClr val="C9D7D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" y="2926080"/>
            <a:ext cx="1060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240">
            <a:solidFill>
              <a:srgbClr val="C9D7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3035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Ham su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tankı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2331720" y="2926080"/>
            <a:ext cx="1060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240">
            <a:solidFill>
              <a:srgbClr val="C9D7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3035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Ön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filtrasyon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977640" y="2926080"/>
            <a:ext cx="1060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240">
            <a:solidFill>
              <a:srgbClr val="C9D7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3035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Yumuşatma /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antiskalant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623560" y="2926080"/>
            <a:ext cx="1060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240">
            <a:solidFill>
              <a:srgbClr val="C9D7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96712" y="3035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Kartuş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filtre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7269480" y="2926080"/>
            <a:ext cx="1060704" cy="658368"/>
          </a:xfrm>
          <a:prstGeom prst="roundRect">
            <a:avLst>
              <a:gd name="adj" fmla="val 6944"/>
            </a:avLst>
          </a:prstGeom>
          <a:solidFill>
            <a:srgbClr val="DDEFF6"/>
          </a:solidFill>
          <a:ln w="15240">
            <a:solidFill>
              <a:srgbClr val="2C7D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42632" y="3035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BWRO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m³/h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8915400" y="2926080"/>
            <a:ext cx="1060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240">
            <a:solidFill>
              <a:srgbClr val="C9D7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88552" y="3035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Permeat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tankı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10561320" y="2926080"/>
            <a:ext cx="106070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240">
            <a:solidFill>
              <a:srgbClr val="C9D7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34472" y="303580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Boyama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makineleri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822960" y="1325880"/>
            <a:ext cx="10561320" cy="868680"/>
          </a:xfrm>
          <a:prstGeom prst="roundRect">
            <a:avLst>
              <a:gd name="adj" fmla="val 6316"/>
            </a:avLst>
          </a:prstGeom>
          <a:solidFill>
            <a:srgbClr val="E9F3F7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1444752"/>
            <a:ext cx="102321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Ölçüm kapıları: ham su iletkenliği, SDI, kartuş filtre ΔP, feed/permeat/reject debileri, basınçlar, permeat iletkenliği, tank seviyesi.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822960" y="4617720"/>
            <a:ext cx="10561320" cy="804672"/>
          </a:xfrm>
          <a:prstGeom prst="roundRect">
            <a:avLst>
              <a:gd name="adj" fmla="val 6818"/>
            </a:avLst>
          </a:prstGeom>
          <a:solidFill>
            <a:srgbClr val="EEF8F1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736592"/>
            <a:ext cx="1023213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Hedef permeat: 20-80 µS/cm, düşük sertlik, düşük demir/mangan ve kontrollü bikarbonat/alkalinite.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11018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BB-KSS teknik sonuç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21792" y="85039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Master doküman kararı satın alma şartnamesine bu dille aktarılmalıdır.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31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m³/saat net permeat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304288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6B7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Tek geçişli endüstriyel BWRO + 100-120 m³ permeat tankı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3246120"/>
            <a:ext cx="10149840" cy="822960"/>
          </a:xfrm>
          <a:prstGeom prst="roundRect">
            <a:avLst>
              <a:gd name="adj" fmla="val 6667"/>
            </a:avLst>
          </a:prstGeom>
          <a:solidFill>
            <a:srgbClr val="E9F3F7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3364992"/>
            <a:ext cx="98206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Şartnameye yazılacak ifade: kapasite brüt pompa debisi değil, ölçülen net permeat debisi olarak garanti edilmelidir.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1005840" y="4434840"/>
            <a:ext cx="10149840" cy="82296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8890">
            <a:solidFill>
              <a:srgbClr val="D8E5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4553712"/>
            <a:ext cx="982065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2222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Kalan kontrol: ham su analizi + SDI olmadan gerçek recovery, membran dizilimi ve ön arıtma kesinleştirilmemelidir.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50">
                <a:solidFill>
                  <a:srgbClr val="5C6B7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BB-KSS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20.000 kg/gün Boyahane RO Kapasite Seçimi</dc:title>
  <dc:subject>RO 20K Kapasite Seçimi</dc:subject>
  <dc:creator>BB-KSS</dc:creator>
  <cp:lastModifiedBy>BB-KSS</cp:lastModifiedBy>
  <cp:revision>1</cp:revision>
  <dcterms:created xsi:type="dcterms:W3CDTF">2026-07-20T21:51:00Z</dcterms:created>
  <dcterms:modified xsi:type="dcterms:W3CDTF">2026-07-20T21:51:00Z</dcterms:modified>
</cp:coreProperties>
</file>