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bbos-cupro-reaktif-boyama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45A2B"/>
                </a:solidFill>
                <a:latin typeface="Inter"/>
              </a:defRPr>
            </a:pPr>
            <a:r>
              <a:t>01 / YAKLAŞIM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315"/>
                </a:solidFill>
                <a:latin typeface="Inter"/>
              </a:defRPr>
            </a:pPr>
            <a:r>
              <a:t>Cupro boyamada temel yaklaşım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F7782"/>
                </a:solidFill>
                <a:latin typeface="Inter"/>
              </a:defRPr>
            </a:pPr>
            <a:r>
              <a:t>TDS + laboratuvar + makine doğrulaması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55080"/>
            <a:ext cx="10881360" cy="22860"/>
          </a:xfrm>
          <a:prstGeom prst="rect">
            <a:avLst/>
          </a:prstGeom>
          <a:solidFill>
            <a:srgbClr val="E5E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31720"/>
            <a:ext cx="1069848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45A2B"/>
                </a:solidFill>
                <a:latin typeface="Inter"/>
              </a:defRPr>
            </a:pPr>
            <a:r>
              <a:t>02 / ÖN İŞLEM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315"/>
                </a:solidFill>
                <a:latin typeface="Inter"/>
              </a:defRPr>
            </a:pPr>
            <a:r>
              <a:t>Ön işlemde kontrollü kimyasal seçim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F7782"/>
                </a:solidFill>
                <a:latin typeface="Inter"/>
              </a:defRPr>
            </a:pPr>
            <a:r>
              <a:t>Kimyasal sistem doğrulama akışı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55080"/>
            <a:ext cx="10881360" cy="22860"/>
          </a:xfrm>
          <a:prstGeom prst="rect">
            <a:avLst/>
          </a:prstGeom>
          <a:solidFill>
            <a:srgbClr val="E5E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31720"/>
            <a:ext cx="1069848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45A2B"/>
                </a:solidFill>
                <a:latin typeface="Inter"/>
              </a:defRPr>
            </a:pPr>
            <a:r>
              <a:t>03 / DÜZE MEKANİĞİ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315"/>
                </a:solidFill>
                <a:latin typeface="Inter"/>
              </a:defRPr>
            </a:pPr>
            <a:r>
              <a:t>Düşük mekanik stres, kararlı dolaşım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F7782"/>
                </a:solidFill>
                <a:latin typeface="Inter"/>
              </a:defRPr>
            </a:pPr>
            <a:r>
              <a:t>Setpointler makine ve kumaşa özgüdür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55080"/>
            <a:ext cx="10881360" cy="22860"/>
          </a:xfrm>
          <a:prstGeom prst="rect">
            <a:avLst/>
          </a:prstGeom>
          <a:solidFill>
            <a:srgbClr val="E5E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31720"/>
            <a:ext cx="1069848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45A2B"/>
                </a:solidFill>
                <a:latin typeface="Inter"/>
              </a:defRPr>
            </a:pPr>
            <a:r>
              <a:t>05 / PROSES EĞRİSİ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315"/>
                </a:solidFill>
                <a:latin typeface="Inter"/>
              </a:defRPr>
            </a:pPr>
            <a:r>
              <a:t>Kontrollü dozaj ve kademeli sıcaklık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F7782"/>
                </a:solidFill>
                <a:latin typeface="Inter"/>
              </a:defRPr>
            </a:pPr>
            <a:r>
              <a:t>Reaktif boyama örnek proses eğrisi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55080"/>
            <a:ext cx="10881360" cy="22860"/>
          </a:xfrm>
          <a:prstGeom prst="rect">
            <a:avLst/>
          </a:prstGeom>
          <a:solidFill>
            <a:srgbClr val="E5E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31720"/>
            <a:ext cx="1069848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45A2B"/>
                </a:solidFill>
                <a:latin typeface="Inter"/>
              </a:defRPr>
            </a:pPr>
            <a:r>
              <a:t>04 / BOYARMADDE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315"/>
                </a:solidFill>
                <a:latin typeface="Inter"/>
              </a:defRPr>
            </a:pPr>
            <a:r>
              <a:t>Boyarmadde seçimi tek parametre değildir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F7782"/>
                </a:solidFill>
                <a:latin typeface="Inter"/>
              </a:defRPr>
            </a:pPr>
            <a:r>
              <a:t>Ürün ailesi, lif karışımı ve wash-off davranışı birlikte değerlendirilir.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55080"/>
            <a:ext cx="10881360" cy="22860"/>
          </a:xfrm>
          <a:prstGeom prst="rect">
            <a:avLst/>
          </a:prstGeom>
          <a:solidFill>
            <a:srgbClr val="E5E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743200"/>
            <a:ext cx="3517392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2926080"/>
            <a:ext cx="31882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1315"/>
                </a:solidFill>
                <a:latin typeface="Inter"/>
              </a:defRPr>
            </a:pPr>
            <a:r>
              <a:t>%100 CUPRO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3474720"/>
            <a:ext cx="3188208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F7782"/>
                </a:solidFill>
                <a:latin typeface="Inter"/>
              </a:defRPr>
            </a:pPr>
            <a:r>
              <a:t>Bifonksiyonel reaktifler aday gruptur. Ürün kimyası tek yapı gibi genellenmez.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2064" y="2743200"/>
            <a:ext cx="3517392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6656" y="2926080"/>
            <a:ext cx="31882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1315"/>
                </a:solidFill>
                <a:latin typeface="Inter"/>
              </a:defRPr>
            </a:pPr>
            <a:r>
              <a:t>CUPRO / 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6656" y="3474720"/>
            <a:ext cx="3188208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F7782"/>
                </a:solidFill>
                <a:latin typeface="Inter"/>
              </a:defRPr>
            </a:pPr>
            <a:r>
              <a:t>Alkali-clearable dispers sistemler klasik reduction clearing ihtiyacını azaltabilir.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4048" y="2743200"/>
            <a:ext cx="3517392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8640" y="2926080"/>
            <a:ext cx="31882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1315"/>
                </a:solidFill>
                <a:latin typeface="Inter"/>
              </a:defRPr>
            </a:pPr>
            <a:r>
              <a:t>CUPRO / ELASTAN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8640" y="3474720"/>
            <a:ext cx="3188208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F7782"/>
                </a:solidFill>
                <a:latin typeface="Inter"/>
              </a:defRPr>
            </a:pPr>
            <a:r>
              <a:t>Staining riski boya + yardımcı kimyasal + wash-off sistemiyle kontrol edilir.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45A2B"/>
                </a:solidFill>
                <a:latin typeface="Inter"/>
              </a:defRPr>
            </a:pPr>
            <a:r>
              <a:t>06 / WASH-OFF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315"/>
                </a:solidFill>
                <a:latin typeface="Inter"/>
              </a:defRPr>
            </a:pPr>
            <a:r>
              <a:t>Boya sonrası yıkama ve nötralizasyon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F7782"/>
                </a:solidFill>
                <a:latin typeface="Inter"/>
              </a:defRPr>
            </a:pPr>
            <a:r>
              <a:t>Asetik asit konsantrasyonu ve sabunlama şartları TDS/lab ile doğrulanır.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55080"/>
            <a:ext cx="10881360" cy="22860"/>
          </a:xfrm>
          <a:prstGeom prst="rect">
            <a:avLst/>
          </a:prstGeom>
          <a:solidFill>
            <a:srgbClr val="E5E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31720"/>
            <a:ext cx="1069848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45A2B"/>
                </a:solidFill>
                <a:latin typeface="Inter"/>
              </a:defRPr>
            </a:pPr>
            <a:r>
              <a:t>07 / FINISH 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315"/>
                </a:solidFill>
                <a:latin typeface="Inter"/>
              </a:defRPr>
            </a:pPr>
            <a:r>
              <a:t>Finish Ram kimyasal sistemi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F7782"/>
                </a:solidFill>
                <a:latin typeface="Inter"/>
              </a:defRPr>
            </a:pPr>
            <a:r>
              <a:t>Kesin g/L ve curing değerleri ticari ürün TDS’si, pickup ve kumaş denemesiyle belirlenir.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55080"/>
            <a:ext cx="10881360" cy="22860"/>
          </a:xfrm>
          <a:prstGeom prst="rect">
            <a:avLst/>
          </a:prstGeom>
          <a:solidFill>
            <a:srgbClr val="E5E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743200"/>
            <a:ext cx="3517392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2926080"/>
            <a:ext cx="31882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1315"/>
                </a:solidFill>
                <a:latin typeface="Inter"/>
              </a:defRPr>
            </a:pPr>
            <a:r>
              <a:t>%100 CUPRO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3474720"/>
            <a:ext cx="3188208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F7782"/>
                </a:solidFill>
                <a:latin typeface="Inter"/>
              </a:defRPr>
            </a:pPr>
            <a:r>
              <a:t>Ana sistem: düşük sararmalı amino-fonksiyonel veya hidrofilik silikon. PU yalnız hedef performansa göre.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2064" y="2743200"/>
            <a:ext cx="3517392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6656" y="2926080"/>
            <a:ext cx="31882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1315"/>
                </a:solidFill>
                <a:latin typeface="Inter"/>
              </a:defRPr>
            </a:pPr>
            <a:r>
              <a:t>CUPRO / ELASTAN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6656" y="3474720"/>
            <a:ext cx="3188208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F7782"/>
                </a:solidFill>
                <a:latin typeface="Inter"/>
              </a:defRPr>
            </a:pPr>
            <a:r>
              <a:t>Elastan uyumlu silikon. Elastomerik PU opsiyonel. Crosslink reçinesi standart çözüm değildir.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4048" y="2743200"/>
            <a:ext cx="3517392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8640" y="2926080"/>
            <a:ext cx="31882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1315"/>
                </a:solidFill>
                <a:latin typeface="Inter"/>
              </a:defRPr>
            </a:pPr>
            <a:r>
              <a:t>CUPRO / 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8640" y="3474720"/>
            <a:ext cx="3188208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F7782"/>
                </a:solidFill>
                <a:latin typeface="Inter"/>
              </a:defRPr>
            </a:pPr>
            <a:r>
              <a:t>Düşük sararmalı silikon. Antistatik ajan PES oranı ve final performansa göre opsiyonel.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45A2B"/>
                </a:solidFill>
                <a:latin typeface="Inter"/>
              </a:defRPr>
            </a:pPr>
            <a:r>
              <a:t>08 /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315"/>
                </a:solidFill>
                <a:latin typeface="Inter"/>
              </a:defRPr>
            </a:pPr>
            <a:r>
              <a:t>Kök neden tek değildir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F7782"/>
                </a:solidFill>
                <a:latin typeface="Inter"/>
              </a:defRPr>
            </a:pPr>
            <a:r>
              <a:t>Problem → olası nedenler → kontrol sırası → doğrulama ölçümü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55080"/>
            <a:ext cx="10881360" cy="22860"/>
          </a:xfrm>
          <a:prstGeom prst="rect">
            <a:avLst/>
          </a:prstGeom>
          <a:solidFill>
            <a:srgbClr val="E5E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743200"/>
            <a:ext cx="3517392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2926080"/>
            <a:ext cx="31882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1315"/>
                </a:solidFill>
                <a:latin typeface="Inter"/>
              </a:defRPr>
            </a:pPr>
            <a:r>
              <a:t>MEKANİK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3474720"/>
            <a:ext cx="3188208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F7782"/>
                </a:solidFill>
                <a:latin typeface="Inter"/>
              </a:defRPr>
            </a:pPr>
            <a:r>
              <a:t>Düze etkisi, rope turnover, loading, sürtünme ve banyo hareketi birlikte kontrol edilir.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2064" y="2743200"/>
            <a:ext cx="3517392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6656" y="2926080"/>
            <a:ext cx="31882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1315"/>
                </a:solidFill>
                <a:latin typeface="Inter"/>
              </a:defRPr>
            </a:pPr>
            <a:r>
              <a:t>BOYAMA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6656" y="3474720"/>
            <a:ext cx="3188208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F7782"/>
                </a:solidFill>
                <a:latin typeface="Inter"/>
              </a:defRPr>
            </a:pPr>
            <a:r>
              <a:t>EC-zaman, pH-zaman, sıcaklık uniformitesi, dozaj ve TDS karşılaştırılır.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4048" y="2743200"/>
            <a:ext cx="3517392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8640" y="2926080"/>
            <a:ext cx="31882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1315"/>
                </a:solidFill>
                <a:latin typeface="Inter"/>
              </a:defRPr>
            </a:pPr>
            <a:r>
              <a:t>RAMÖZ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8640" y="3474720"/>
            <a:ext cx="3188208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F7782"/>
                </a:solidFill>
                <a:latin typeface="Inter"/>
              </a:defRPr>
            </a:pPr>
            <a:r>
              <a:t>Gerçek kumaş sıcaklığı, dwell, pickup, pH ve finish uyumu birlikte doğrulanır.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45A2B"/>
                </a:solidFill>
                <a:latin typeface="Inter"/>
              </a:defRPr>
            </a:pPr>
            <a:r>
              <a:t>09 / MALİYET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315"/>
                </a:solidFill>
                <a:latin typeface="Inter"/>
              </a:defRPr>
            </a:pPr>
            <a:r>
              <a:t>Right First Time doğrudan maliyet etkisidir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F7782"/>
                </a:solidFill>
                <a:latin typeface="Inter"/>
              </a:defRPr>
            </a:pPr>
            <a:r>
              <a:t>20.000 kg/gün senaryo modeli; piyasa teklifi değildir.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55080"/>
            <a:ext cx="10881360" cy="22860"/>
          </a:xfrm>
          <a:prstGeom prst="rect">
            <a:avLst/>
          </a:prstGeom>
          <a:solidFill>
            <a:srgbClr val="E5E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31720"/>
            <a:ext cx="1069848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45A2B"/>
                </a:solidFill>
                <a:latin typeface="Inter"/>
              </a:defRPr>
            </a:pPr>
            <a:r>
              <a:t>TEKNİK YAYIN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315"/>
                </a:solidFill>
                <a:latin typeface="Inter"/>
              </a:defRPr>
            </a:pPr>
            <a:r>
              <a:t>Tam teknik dosyalar üyelik kontrollü olarak sunulmalıdır.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F7782"/>
                </a:solidFill>
                <a:latin typeface="Inter"/>
              </a:defRPr>
            </a:pPr>
            <a:r>
              <a:t>https://bahribudak.com/tr/blog/cupro-kumaslarda-reaktif-boyama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55080"/>
            <a:ext cx="10881360" cy="22860"/>
          </a:xfrm>
          <a:prstGeom prst="rect">
            <a:avLst/>
          </a:prstGeom>
          <a:solidFill>
            <a:srgbClr val="E5E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926080"/>
            <a:ext cx="3517392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3108960"/>
            <a:ext cx="31882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1315"/>
                </a:solidFill>
                <a:latin typeface="Inter"/>
              </a:defRPr>
            </a:pPr>
            <a:r>
              <a:t>MASTER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3657600"/>
            <a:ext cx="3188208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F7782"/>
                </a:solidFill>
                <a:latin typeface="Inter"/>
              </a:defRPr>
            </a:pPr>
            <a:r>
              <a:t>Final teknik referans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2064" y="2926080"/>
            <a:ext cx="3517392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6656" y="3108960"/>
            <a:ext cx="31882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1315"/>
                </a:solidFill>
                <a:latin typeface="Inter"/>
              </a:defRPr>
            </a:pPr>
            <a:r>
              <a:t>MASTER DOCX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6656" y="3657600"/>
            <a:ext cx="3188208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F7782"/>
                </a:solidFill>
                <a:latin typeface="Inter"/>
              </a:defRPr>
            </a:pPr>
            <a:r>
              <a:t>Düzenlenebilir teknik yayın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4048" y="2926080"/>
            <a:ext cx="3517392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8640" y="3108960"/>
            <a:ext cx="31882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1315"/>
                </a:solidFill>
                <a:latin typeface="Inter"/>
              </a:defRPr>
            </a:pPr>
            <a:r>
              <a:t>PPTX + CAROUSEL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8640" y="3657600"/>
            <a:ext cx="3188208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6F7782"/>
                </a:solidFill>
                <a:latin typeface="Inter"/>
              </a:defRPr>
            </a:pPr>
            <a:r>
              <a:t>Sunum ve sosyal yayın paketi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